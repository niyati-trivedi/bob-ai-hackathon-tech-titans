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2" d="100"/>
          <a:sy n="62" d="100"/>
        </p:scale>
        <p:origin x="8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" y="0"/>
            <a:ext cx="1217108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9439" y="2059905"/>
            <a:ext cx="4362884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 dirty="0">
                <a:solidFill>
                  <a:srgbClr val="233E32"/>
                </a:solidFill>
                <a:latin typeface="Georgia"/>
              </a:rPr>
              <a:t>AI </a:t>
            </a:r>
            <a:r>
              <a:rPr sz="3593" b="0" i="0" dirty="0" err="1">
                <a:solidFill>
                  <a:srgbClr val="233E32"/>
                </a:solidFill>
                <a:latin typeface="Georgia"/>
              </a:rPr>
              <a:t>Defence</a:t>
            </a:r>
            <a:r>
              <a:rPr sz="3593" b="0" i="0" dirty="0">
                <a:solidFill>
                  <a:srgbClr val="233E32"/>
                </a:solidFill>
                <a:latin typeface="Georgia"/>
              </a:rPr>
              <a:t>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439" y="2627889"/>
            <a:ext cx="5692425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&amp; Threat Prediction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439" y="3467663"/>
            <a:ext cx="608426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Predict equipment failures. Prioritize genuine security threats. Support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439" y="3761798"/>
            <a:ext cx="2103333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mission-ready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439" y="4258784"/>
            <a:ext cx="4839435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IBM BOB AI Innovation Hackathon — Team Tech-Titans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439" y="4552918"/>
            <a:ext cx="1286171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DEPSTAR |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891" y="0"/>
            <a:ext cx="811021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6677" y="352084"/>
            <a:ext cx="5137446" cy="434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94" b="0" i="0">
                <a:solidFill>
                  <a:srgbClr val="233E32"/>
                </a:solidFill>
                <a:latin typeface="Georgia"/>
              </a:rPr>
              <a:t>Defence Operations Face Two Critical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6677" y="730561"/>
            <a:ext cx="601271" cy="434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94" b="0" i="0">
                <a:solidFill>
                  <a:srgbClr val="233E32"/>
                </a:solidFill>
                <a:latin typeface="Georgia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949" y="681900"/>
            <a:ext cx="97930" cy="51778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94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5880" y="730561"/>
            <a:ext cx="3320227" cy="434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94" b="0" i="0">
                <a:solidFill>
                  <a:srgbClr val="233E32"/>
                </a:solidFill>
                <a:latin typeface="Georgia"/>
              </a:rPr>
              <a:t>Management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1128" y="1558158"/>
            <a:ext cx="2601406" cy="217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97" b="0" i="0">
                <a:solidFill>
                  <a:srgbClr val="233E32"/>
                </a:solidFill>
                <a:latin typeface="Georgia"/>
              </a:rPr>
              <a:t>EQUIPMENT FAILURE — Who &amp; 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5647" y="1878137"/>
            <a:ext cx="2802034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Who: maintainers, ops planners, aircrew, mission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5647" y="2067375"/>
            <a:ext cx="737092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commanders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5647" y="2310682"/>
            <a:ext cx="3267633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What: latent faults in mission‑critical aircraft/equipment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5647" y="2499920"/>
            <a:ext cx="1744496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(sensors, actuators, hydraulics)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5647" y="2736468"/>
            <a:ext cx="2935726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Signals: temperature, vibration, pressure, operating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5647" y="2932465"/>
            <a:ext cx="1255210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hours, service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1128" y="3236598"/>
            <a:ext cx="738553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1" i="0">
                <a:solidFill>
                  <a:srgbClr val="2C2821"/>
                </a:solidFill>
                <a:latin typeface="Georgia"/>
              </a:rPr>
              <a:t>Why it hurts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9707" y="3236598"/>
            <a:ext cx="1358736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: unexpected downtime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43" y="3251926"/>
            <a:ext cx="121653" cy="152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0097" y="3236598"/>
            <a:ext cx="1141594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 maintenance surge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1128" y="3447923"/>
            <a:ext cx="121653" cy="152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2780" y="3432595"/>
            <a:ext cx="1160808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 reduced availability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3588" y="3447923"/>
            <a:ext cx="121653" cy="152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5241" y="3432595"/>
            <a:ext cx="1086235" cy="1946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 mission disruption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1128" y="4349425"/>
            <a:ext cx="3123299" cy="217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97" b="0" i="0">
                <a:solidFill>
                  <a:srgbClr val="233E32"/>
                </a:solidFill>
                <a:latin typeface="Georgia"/>
              </a:rPr>
              <a:t>SECURITY ALERT OVERLOAD — Who &amp; What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5647" y="4669403"/>
            <a:ext cx="3149148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Who: SOC teams, network defenders, platform owners,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5647" y="4865400"/>
            <a:ext cx="757408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mission leads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5647" y="5101948"/>
            <a:ext cx="2843642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What: streams from auth logs, network telemetry,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5647" y="5297945"/>
            <a:ext cx="1484404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sensors, intelligence feeds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5647" y="5534493"/>
            <a:ext cx="2938578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Problem: critical events buried among high-volume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5647" y="5730490"/>
            <a:ext cx="1041710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low‑priority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1128" y="6034623"/>
            <a:ext cx="738553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1" i="0">
                <a:solidFill>
                  <a:srgbClr val="2C2821"/>
                </a:solidFill>
                <a:latin typeface="Georgia"/>
              </a:rPr>
              <a:t>Why it hurts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9707" y="6034623"/>
            <a:ext cx="1555205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: missed correlated activity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4912" y="6049952"/>
            <a:ext cx="121653" cy="152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6565" y="6034623"/>
            <a:ext cx="1044391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 delayed response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1128" y="6239190"/>
            <a:ext cx="121653" cy="1520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2780" y="6223862"/>
            <a:ext cx="888306" cy="1946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57" b="0" i="0">
                <a:solidFill>
                  <a:srgbClr val="2C2821"/>
                </a:solidFill>
                <a:latin typeface="Georgia"/>
              </a:rPr>
              <a:t> mission impact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" y="0"/>
            <a:ext cx="1217108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13595" y="1522349"/>
            <a:ext cx="5567516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The Problem Is Not Lack of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3595" y="2090333"/>
            <a:ext cx="6328367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Data — It Is Lack of Prioritized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3595" y="2658316"/>
            <a:ext cx="2407595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44803" y="3508233"/>
            <a:ext cx="2066270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Simple before workflow: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4799" y="4005219"/>
            <a:ext cx="1102875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Sensor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7675" y="4025301"/>
            <a:ext cx="182566" cy="2355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0240" y="4005219"/>
            <a:ext cx="161204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 Multiple Systems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2290" y="4025301"/>
            <a:ext cx="182566" cy="2355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4855" y="4005219"/>
            <a:ext cx="2083068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 Large Volume of Alerts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7923" y="4025301"/>
            <a:ext cx="182566" cy="2355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00488" y="4005219"/>
            <a:ext cx="748723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 Manual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5628" y="4289211"/>
            <a:ext cx="774077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Analysis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9704" y="4309293"/>
            <a:ext cx="182566" cy="2355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2270" y="4289211"/>
            <a:ext cx="1548153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 Delayed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3595" y="4796340"/>
            <a:ext cx="6136408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Traditional monitoring raises notices. Operators need context: WHAT is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3595" y="5080332"/>
            <a:ext cx="5687811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wrong, HOW serious, WHAT will be affected, and WHAT to do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" y="0"/>
            <a:ext cx="1217108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9439" y="954365"/>
            <a:ext cx="9276209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Our Solution: AI Defence Readiness &amp; Threat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439" y="1522349"/>
            <a:ext cx="3719793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Prediction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914" y="2439769"/>
            <a:ext cx="2967389" cy="3260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C2821"/>
                </a:solidFill>
                <a:latin typeface="Georgia"/>
              </a:rPr>
              <a:t>EQUIPMENT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914" y="2848966"/>
            <a:ext cx="324498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Detect anomalies, predict component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914" y="3143101"/>
            <a:ext cx="349379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degradation, estimate failure probability,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914" y="3437235"/>
            <a:ext cx="3030881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assess mission impact, recommend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914" y="3721227"/>
            <a:ext cx="1793336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maintenance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84577" y="2439769"/>
            <a:ext cx="2523755" cy="3260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C2821"/>
                </a:solidFill>
                <a:latin typeface="Georgia"/>
              </a:rPr>
              <a:t>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84577" y="2848966"/>
            <a:ext cx="2948472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Correlate alerts, detect suspicious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4577" y="3143101"/>
            <a:ext cx="3010278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behaviour, map to MITRE ATT&amp;CK,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4577" y="3437235"/>
            <a:ext cx="343071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prioritize threats, recommend response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4577" y="3721227"/>
            <a:ext cx="61451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3821" y="4218213"/>
            <a:ext cx="304408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1" i="0">
                <a:solidFill>
                  <a:srgbClr val="2C2821"/>
                </a:solidFill>
                <a:latin typeface="Georgia"/>
              </a:rPr>
              <a:t>AI DEFENCE READINESS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6165" y="4715199"/>
            <a:ext cx="2831037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EQUIPMENT RISK + CYBER RISK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7202" y="4738202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767" y="4715199"/>
            <a:ext cx="2645733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 UNIFIED MISSION RISK VIEW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5499" y="4738202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8065" y="4715199"/>
            <a:ext cx="1937746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 PRIORITIZED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2780" y="5445464"/>
            <a:ext cx="7723780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Georgia"/>
              </a:rPr>
              <a:t>Converts complex signals into prioritized operational decisions — not additional raw alerts.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2" y="0"/>
            <a:ext cx="113043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7282" y="490752"/>
            <a:ext cx="7891611" cy="6056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37" b="0" i="0">
                <a:solidFill>
                  <a:srgbClr val="233E32"/>
                </a:solidFill>
                <a:latin typeface="Georgia"/>
              </a:rPr>
              <a:t>From Raw Signals to Actionable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152" y="4854622"/>
            <a:ext cx="1378798" cy="325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152" y="3853020"/>
            <a:ext cx="1705456" cy="325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152" y="2861535"/>
            <a:ext cx="1126803" cy="3252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AI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152" y="1859934"/>
            <a:ext cx="1330994" cy="3252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282" y="5867848"/>
            <a:ext cx="9820983" cy="2713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35" b="0" i="0">
                <a:solidFill>
                  <a:srgbClr val="2C2821"/>
                </a:solidFill>
                <a:latin typeface="Georgia"/>
              </a:rPr>
              <a:t>Inputs: equipment telemetry and security events. Analysis: anomaly detection, correlation, prediction. Outputs: asset health,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282" y="6141037"/>
            <a:ext cx="4031235" cy="2713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35" b="0" i="0">
                <a:solidFill>
                  <a:srgbClr val="2C2821"/>
                </a:solidFill>
                <a:latin typeface="Georgia"/>
              </a:rPr>
              <a:t>threat priority, mission‑focused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96" y="0"/>
            <a:ext cx="1178080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4088" y="511434"/>
            <a:ext cx="7507184" cy="631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78" b="0" i="0">
                <a:solidFill>
                  <a:srgbClr val="233E32"/>
                </a:solidFill>
                <a:latin typeface="Georgia"/>
              </a:rPr>
              <a:t>Beyond Monitoring: A Unified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31273" y="440749"/>
            <a:ext cx="142253" cy="752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78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73526" y="511434"/>
            <a:ext cx="972061" cy="631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78" b="0" i="0">
                <a:solidFill>
                  <a:srgbClr val="233E32"/>
                </a:solidFill>
                <a:latin typeface="Georgia"/>
              </a:rPr>
              <a:t>Risk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4088" y="1061205"/>
            <a:ext cx="2299911" cy="6311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478" b="0" i="0">
                <a:solidFill>
                  <a:srgbClr val="233E32"/>
                </a:solidFill>
                <a:latin typeface="Georgia"/>
              </a:rPr>
              <a:t>Perspective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0435" y="2253545"/>
            <a:ext cx="1057069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Predictive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0435" y="2528431"/>
            <a:ext cx="1150027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Equipment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435" y="2813133"/>
            <a:ext cx="1165197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0435" y="3277930"/>
            <a:ext cx="1046923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Detect early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435" y="3552816"/>
            <a:ext cx="1778315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degradation patterns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0435" y="3837519"/>
            <a:ext cx="1517064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vs threshold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2483" y="2253545"/>
            <a:ext cx="537868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Multi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352" y="2218203"/>
            <a:ext cx="71126" cy="3760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Aptos"/>
              </a:rPr>
              <a:t>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1478" y="2253545"/>
            <a:ext cx="731243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Source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2483" y="2528431"/>
            <a:ext cx="704872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Threat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2483" y="2813133"/>
            <a:ext cx="1124773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Correlation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2483" y="3277930"/>
            <a:ext cx="1500055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Aggregate related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2483" y="3552816"/>
            <a:ext cx="1513400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security events to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62483" y="3837519"/>
            <a:ext cx="1582888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reveal coordinated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2483" y="4122222"/>
            <a:ext cx="606119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435" y="4963130"/>
            <a:ext cx="2336137" cy="3155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C2821"/>
                </a:solidFill>
                <a:latin typeface="Georgia"/>
              </a:rPr>
              <a:t>Physical + Cyber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35" y="5427928"/>
            <a:ext cx="4012833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Evaluate combined mission impact across assets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0435" y="5712631"/>
            <a:ext cx="1119111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and networks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72487" y="2037564"/>
            <a:ext cx="1203632" cy="3155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39" b="0" i="0">
                <a:solidFill>
                  <a:srgbClr val="233E32"/>
                </a:solidFill>
                <a:latin typeface="Georgia"/>
              </a:rPr>
              <a:t>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5042" y="2502361"/>
            <a:ext cx="944344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1" i="0">
                <a:solidFill>
                  <a:srgbClr val="2C2821"/>
                </a:solidFill>
                <a:latin typeface="Georgia"/>
              </a:rPr>
              <a:t>Traditional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9500" y="2502361"/>
            <a:ext cx="809511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: Monitor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09013" y="2524626"/>
            <a:ext cx="176712" cy="220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5724" y="2502361"/>
            <a:ext cx="493553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 Alert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9278" y="2524626"/>
            <a:ext cx="176712" cy="220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5989" y="2502361"/>
            <a:ext cx="1661260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 Human investigates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5042" y="2845968"/>
            <a:ext cx="329919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1" i="0">
                <a:solidFill>
                  <a:srgbClr val="2C2821"/>
                </a:solidFill>
                <a:latin typeface="Georgia"/>
              </a:rPr>
              <a:t>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4996" y="2845968"/>
            <a:ext cx="688112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: Detect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73109" y="2868233"/>
            <a:ext cx="176712" cy="220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49820" y="2845968"/>
            <a:ext cx="687051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 Predict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6872" y="2868233"/>
            <a:ext cx="176712" cy="220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3583" y="2845968"/>
            <a:ext cx="869593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 Correlate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3177" y="2868233"/>
            <a:ext cx="176712" cy="220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9888" y="2845968"/>
            <a:ext cx="861465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 Prioritize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21354" y="2868233"/>
            <a:ext cx="176712" cy="220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98065" y="2845968"/>
            <a:ext cx="1072281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2C2821"/>
                </a:solidFill>
                <a:latin typeface="Georgia"/>
              </a:rPr>
              <a:t> Recommend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6801" y="3533181"/>
            <a:ext cx="4566285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Georgia"/>
              </a:rPr>
              <a:t>Action‑oriented AI: suggestions are framed as operator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6801" y="3817884"/>
            <a:ext cx="3669756" cy="2827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91" b="0" i="0">
                <a:solidFill>
                  <a:srgbClr val="000000"/>
                </a:solidFill>
                <a:latin typeface="Georgia"/>
              </a:rPr>
              <a:t>options with rationale and confidence levels.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896" y="0"/>
            <a:ext cx="832820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69126" y="361548"/>
            <a:ext cx="5825486" cy="44620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59" b="0" i="0">
                <a:solidFill>
                  <a:srgbClr val="233E32"/>
                </a:solidFill>
                <a:latin typeface="Georgia"/>
              </a:rPr>
              <a:t>Prototype: Asset Risk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1078" y="1051765"/>
            <a:ext cx="866811" cy="2231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9" b="0" i="0">
                <a:solidFill>
                  <a:srgbClr val="233E32"/>
                </a:solidFill>
                <a:latin typeface="Georgia"/>
              </a:rPr>
              <a:t>AIRCRAFT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97890" y="1026781"/>
            <a:ext cx="50281" cy="2658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9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8171" y="1051765"/>
            <a:ext cx="133354" cy="2231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9" b="0" i="0">
                <a:solidFill>
                  <a:srgbClr val="233E32"/>
                </a:solidFill>
                <a:latin typeface="Georgia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1078" y="1380344"/>
            <a:ext cx="1142914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Mechanical Health: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038" y="1380344"/>
            <a:ext cx="238102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1" i="0">
                <a:solidFill>
                  <a:srgbClr val="2C2821"/>
                </a:solidFill>
                <a:latin typeface="Georgia"/>
              </a:rPr>
              <a:t>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31078" y="1692652"/>
            <a:ext cx="1345038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Predicted Component: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6170" y="1692652"/>
            <a:ext cx="964900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1" i="0">
                <a:solidFill>
                  <a:srgbClr val="2C2821"/>
                </a:solidFill>
                <a:latin typeface="Georgia"/>
              </a:rPr>
              <a:t>Hydraulic Pump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1078" y="2004960"/>
            <a:ext cx="1122052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Failure Probability: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217" y="2004960"/>
            <a:ext cx="252718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1" i="0">
                <a:solidFill>
                  <a:srgbClr val="2C2821"/>
                </a:solidFill>
                <a:latin typeface="Georgia"/>
              </a:rPr>
              <a:t>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1078" y="2317267"/>
            <a:ext cx="952158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Mission Impact: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3291" y="2317267"/>
            <a:ext cx="330670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E23B2B"/>
                </a:solidFill>
                <a:latin typeface="Georgia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21" y="2629575"/>
            <a:ext cx="2641156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Interpretation: Copilot elevates maintenance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078" y="2830840"/>
            <a:ext cx="2028112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priority for pre‑flight intervention.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078" y="3376723"/>
            <a:ext cx="648820" cy="223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9" b="0" i="0">
                <a:solidFill>
                  <a:srgbClr val="233E32"/>
                </a:solidFill>
                <a:latin typeface="Georgia"/>
              </a:rPr>
              <a:t>RADAR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9898" y="3351738"/>
            <a:ext cx="50281" cy="2658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9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0180" y="3376723"/>
            <a:ext cx="168802" cy="223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29" b="0" i="0">
                <a:solidFill>
                  <a:srgbClr val="233E32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078" y="3705302"/>
            <a:ext cx="928796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Cyber Security: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9977" y="3705302"/>
            <a:ext cx="251219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1" i="0">
                <a:solidFill>
                  <a:srgbClr val="2C2821"/>
                </a:solidFill>
                <a:latin typeface="Georgia"/>
              </a:rPr>
              <a:t>43%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078" y="4017609"/>
            <a:ext cx="2799814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Detected: suspicious authentication + abnormal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1078" y="4218874"/>
            <a:ext cx="875456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network 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078" y="4531182"/>
            <a:ext cx="984138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MITRE ATT&amp;CK: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5281" y="4531182"/>
            <a:ext cx="1393883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1" i="0">
                <a:solidFill>
                  <a:srgbClr val="2C2821"/>
                </a:solidFill>
                <a:latin typeface="Georgia"/>
              </a:rPr>
              <a:t>T1078 — Valid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078" y="4843490"/>
            <a:ext cx="952158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Mission Impact: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3291" y="4843490"/>
            <a:ext cx="564774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E23B2B"/>
                </a:solidFill>
                <a:latin typeface="Georgia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21" y="5155798"/>
            <a:ext cx="2640939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Interpretation: Correlated incident escalated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078" y="5357063"/>
            <a:ext cx="1218367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2C2821"/>
                </a:solidFill>
                <a:latin typeface="Georgia"/>
              </a:rPr>
              <a:t>for immediate triage.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7078" y="5842875"/>
            <a:ext cx="2189729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000000"/>
                </a:solidFill>
                <a:latin typeface="Georgia"/>
              </a:rPr>
              <a:t>Prototype / Demonstration Values —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7078" y="6037199"/>
            <a:ext cx="1766151" cy="199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83" b="0" i="0">
                <a:solidFill>
                  <a:srgbClr val="000000"/>
                </a:solidFill>
                <a:latin typeface="Georgia"/>
              </a:rPr>
              <a:t>not field‑validated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02" y="0"/>
            <a:ext cx="113043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7282" y="490752"/>
            <a:ext cx="4309101" cy="6056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37" b="0" i="0">
                <a:solidFill>
                  <a:srgbClr val="233E32"/>
                </a:solidFill>
                <a:latin typeface="Georgia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0152" y="4854622"/>
            <a:ext cx="1497396" cy="325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Risk &amp;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152" y="3853020"/>
            <a:ext cx="1126803" cy="325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AI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0152" y="2861535"/>
            <a:ext cx="1463934" cy="3252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0152" y="1859934"/>
            <a:ext cx="1330994" cy="3252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2" b="0" i="0">
                <a:solidFill>
                  <a:srgbClr val="FFFFFF"/>
                </a:solidFill>
                <a:latin typeface="Georgia"/>
              </a:rP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282" y="5867848"/>
            <a:ext cx="9905913" cy="2713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35" b="0" i="0">
                <a:solidFill>
                  <a:srgbClr val="2C2821"/>
                </a:solidFill>
                <a:latin typeface="Georgia"/>
              </a:rPr>
              <a:t>Design notes: modular pipeline, normalized telemetry, separate model components for equipment and threat analysis, shared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282" y="6141037"/>
            <a:ext cx="4362735" cy="2713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35" b="0" i="0">
                <a:solidFill>
                  <a:srgbClr val="2C2821"/>
                </a:solidFill>
                <a:latin typeface="Georgia"/>
              </a:rPr>
              <a:t>risk/context store for mission fusion and audit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30" y="0"/>
            <a:ext cx="1049693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98619" y="455698"/>
            <a:ext cx="8038117" cy="5624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99" b="0" i="0">
                <a:solidFill>
                  <a:srgbClr val="233E32"/>
                </a:solidFill>
                <a:latin typeface="Georgia"/>
              </a:rPr>
              <a:t>IBM Technology Integration — Where &amp; How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98619" y="945555"/>
            <a:ext cx="3319531" cy="5624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99" b="0" i="0">
                <a:solidFill>
                  <a:srgbClr val="233E32"/>
                </a:solidFill>
                <a:latin typeface="Georgia"/>
              </a:rPr>
              <a:t>watsonx / BOB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8942" y="4582998"/>
            <a:ext cx="796784" cy="130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7" b="0" i="0">
                <a:solidFill>
                  <a:srgbClr val="FFFFFF"/>
                </a:solidFill>
                <a:latin typeface="Georgia"/>
              </a:rPr>
              <a:t>Copilot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8942" y="4182101"/>
            <a:ext cx="592781" cy="130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7" b="0" i="0">
                <a:solidFill>
                  <a:srgbClr val="FFFFFF"/>
                </a:solidFill>
                <a:latin typeface="Georgia"/>
              </a:rPr>
              <a:t>watsonx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8942" y="3785253"/>
            <a:ext cx="551143" cy="130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7" b="0" i="0">
                <a:solidFill>
                  <a:srgbClr val="FFFFFF"/>
                </a:solidFill>
                <a:latin typeface="Georgia"/>
              </a:rPr>
              <a:t>AI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8942" y="3384356"/>
            <a:ext cx="543489" cy="130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17" b="0" i="0">
                <a:solidFill>
                  <a:srgbClr val="FFFFFF"/>
                </a:solidFill>
                <a:latin typeface="Georgia"/>
              </a:rPr>
              <a:t>Data /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7743" y="1815511"/>
            <a:ext cx="1923502" cy="2812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49" b="0" i="0">
                <a:solidFill>
                  <a:srgbClr val="233E32"/>
                </a:solidFill>
                <a:latin typeface="Georgia"/>
              </a:rPr>
              <a:t>Role of IBM / watsonx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9505" y="2229654"/>
            <a:ext cx="4000997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Natural‑language interface: operator queries, incident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9505" y="2483330"/>
            <a:ext cx="2711815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summaries, and explainable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59505" y="2789491"/>
            <a:ext cx="4674004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Context‑aware analysis: assist model grounding using validated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9505" y="3043167"/>
            <a:ext cx="1235377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knowledge 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9505" y="3349328"/>
            <a:ext cx="4399006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Explainability: generate human‑readable risk rationales and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9505" y="3603004"/>
            <a:ext cx="1729148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confidence annotations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9505" y="3909165"/>
            <a:ext cx="4779930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Retrieval &amp; grounding: surface approved playbooks, maintenance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9505" y="4162841"/>
            <a:ext cx="2678432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procedures, and intelligence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9505" y="4469001"/>
            <a:ext cx="4554820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Human‑in‑the‑loop: draft recommended actions for operator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9505" y="4713930"/>
            <a:ext cx="1469666" cy="2519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39" b="0" i="0">
                <a:solidFill>
                  <a:srgbClr val="2C2821"/>
                </a:solidFill>
                <a:latin typeface="Georgia"/>
              </a:rPr>
              <a:t>review and approval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C3D5E1-03A1-8E9A-23EA-EA89AF70C3DD}"/>
              </a:ext>
            </a:extLst>
          </p:cNvPr>
          <p:cNvSpPr/>
          <p:nvPr/>
        </p:nvSpPr>
        <p:spPr>
          <a:xfrm>
            <a:off x="5680585" y="5028837"/>
            <a:ext cx="5537770" cy="15171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" y="0"/>
            <a:ext cx="12171083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9439" y="913794"/>
            <a:ext cx="7966290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 dirty="0">
                <a:solidFill>
                  <a:srgbClr val="233E32"/>
                </a:solidFill>
                <a:latin typeface="Georgia"/>
              </a:rPr>
              <a:t>From Detection to Decision — Two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5732" y="840768"/>
            <a:ext cx="146965" cy="7770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7" y="913794"/>
            <a:ext cx="423097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5796" y="840768"/>
            <a:ext cx="146965" cy="77704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2761" y="913794"/>
            <a:ext cx="909209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>
                <a:solidFill>
                  <a:srgbClr val="233E32"/>
                </a:solidFill>
                <a:latin typeface="Georgia"/>
              </a:rPr>
              <a:t>End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439" y="1481778"/>
            <a:ext cx="1972631" cy="6521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593" b="0" i="0" dirty="0">
                <a:solidFill>
                  <a:srgbClr val="233E32"/>
                </a:solidFill>
                <a:latin typeface="Georgia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439" y="2490482"/>
            <a:ext cx="1266783" cy="3260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33E32"/>
                </a:solidFill>
                <a:latin typeface="Georgia"/>
              </a:rPr>
              <a:t>AIRCRAFT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6223" y="2453969"/>
            <a:ext cx="73482" cy="38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9706" y="2490482"/>
            <a:ext cx="2178703" cy="3260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33E32"/>
                </a:solidFill>
                <a:latin typeface="Georgia"/>
              </a:rPr>
              <a:t>17 — Mechanical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514" y="2980820"/>
            <a:ext cx="465358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Sensor patterns (vibration, temp) show abnormal trend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439" y="2980820"/>
            <a:ext cx="111471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514" y="3335810"/>
            <a:ext cx="241369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Equipment AI flags anomaly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207" y="3358813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7772" y="3335810"/>
            <a:ext cx="2258225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 estimates elevated failure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514" y="3619802"/>
            <a:ext cx="922867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439" y="3335810"/>
            <a:ext cx="143008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514" y="3984934"/>
            <a:ext cx="311656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Risk engine assesses mission impact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8083" y="4007937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0648" y="3984934"/>
            <a:ext cx="1342767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 classifies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439" y="3984934"/>
            <a:ext cx="146653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514" y="4339924"/>
            <a:ext cx="415463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Copilot generates maintenance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439" y="4339924"/>
            <a:ext cx="14395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514" y="4694914"/>
            <a:ext cx="445038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Human operator reviews and schedules intervention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439" y="4694914"/>
            <a:ext cx="144435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8803" y="2490482"/>
            <a:ext cx="948205" cy="3260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33E32"/>
                </a:solidFill>
                <a:latin typeface="Georgia"/>
              </a:rPr>
              <a:t>RADAR 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7007" y="2453969"/>
            <a:ext cx="73483" cy="38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33E32"/>
                </a:solidFill>
                <a:latin typeface="Aptos"/>
              </a:rPr>
              <a:t>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0491" y="2490482"/>
            <a:ext cx="1689426" cy="32605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96" b="0" i="0">
                <a:solidFill>
                  <a:srgbClr val="233E32"/>
                </a:solidFill>
                <a:latin typeface="Georgia"/>
              </a:rPr>
              <a:t>04 — Cyber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877" y="2980820"/>
            <a:ext cx="4573986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Suspicious authentication + abnormal traffic captured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8803" y="2980820"/>
            <a:ext cx="111472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1.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877" y="3335810"/>
            <a:ext cx="2493838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Alert correlation links events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4716" y="3358813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7280" y="3335810"/>
            <a:ext cx="1653677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 behaviour analysis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0877" y="3619802"/>
            <a:ext cx="1320128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identifies T1078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8803" y="3335810"/>
            <a:ext cx="14300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877" y="3984934"/>
            <a:ext cx="383806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Risk engine assigns CRITICAL mission impact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8803" y="3984934"/>
            <a:ext cx="146654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877" y="4339924"/>
            <a:ext cx="4670199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Copilot recommends escalation and containment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8803" y="4339924"/>
            <a:ext cx="143960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4.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0877" y="4694914"/>
            <a:ext cx="4182930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Operator reviews and triggers response playbook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8803" y="4694914"/>
            <a:ext cx="144435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2C2821"/>
                </a:solidFill>
                <a:latin typeface="Georgia"/>
              </a:rPr>
              <a:t>5.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2780" y="5486035"/>
            <a:ext cx="4431401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Georgia"/>
              </a:rPr>
              <a:t>Designed for quick judge comprehension: detection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74182" y="5509038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6746" y="5486035"/>
            <a:ext cx="744317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Georgia"/>
              </a:rPr>
              <a:t> context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065" y="5509038"/>
            <a:ext cx="182566" cy="228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Aptos"/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3630" y="5486035"/>
            <a:ext cx="1911091" cy="2921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37" b="0" i="0">
                <a:solidFill>
                  <a:srgbClr val="000000"/>
                </a:solidFill>
                <a:latin typeface="Georgia"/>
              </a:rPr>
              <a:t> decision in under 20s.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33FC61-1C03-7454-CB2B-9C85D4C7A74A}"/>
              </a:ext>
            </a:extLst>
          </p:cNvPr>
          <p:cNvSpPr txBox="1"/>
          <p:nvPr/>
        </p:nvSpPr>
        <p:spPr>
          <a:xfrm>
            <a:off x="130995" y="164922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233E32"/>
                </a:solidFill>
                <a:latin typeface="Georgia"/>
              </a:rPr>
              <a:t>Prototype/Website Demo:</a:t>
            </a:r>
          </a:p>
        </p:txBody>
      </p:sp>
      <p:pic>
        <p:nvPicPr>
          <p:cNvPr id="2" name="final video">
            <a:hlinkClick r:id="" action="ppaction://media"/>
            <a:extLst>
              <a:ext uri="{FF2B5EF4-FFF2-40B4-BE49-F238E27FC236}">
                <a16:creationId xmlns:a16="http://schemas.microsoft.com/office/drawing/2014/main" id="{23B4E87D-83FD-46AF-D1BB-C988A21BAB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69541" y="832207"/>
            <a:ext cx="9852917" cy="554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5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6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D753B8-1810-8C5F-B28B-FF23AF29ECBB}"/>
              </a:ext>
            </a:extLst>
          </p:cNvPr>
          <p:cNvSpPr txBox="1"/>
          <p:nvPr/>
        </p:nvSpPr>
        <p:spPr>
          <a:xfrm>
            <a:off x="7672227" y="2178390"/>
            <a:ext cx="60977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233E32"/>
                </a:solidFill>
                <a:latin typeface="Georgia"/>
              </a:rPr>
              <a:t>THANK YOU</a:t>
            </a:r>
          </a:p>
          <a:p>
            <a:pPr algn="l"/>
            <a:endParaRPr lang="en-US" dirty="0">
              <a:solidFill>
                <a:srgbClr val="233E32"/>
              </a:solidFill>
              <a:latin typeface="Georgia"/>
            </a:endParaRPr>
          </a:p>
          <a:p>
            <a:pPr algn="l"/>
            <a:endParaRPr lang="en-US" sz="1800" b="0" i="0" dirty="0">
              <a:solidFill>
                <a:srgbClr val="233E32"/>
              </a:solidFill>
              <a:latin typeface="Georgia"/>
            </a:endParaRPr>
          </a:p>
          <a:p>
            <a:pPr algn="l"/>
            <a:r>
              <a:rPr lang="en-US" sz="1800" b="0" i="0" dirty="0">
                <a:solidFill>
                  <a:srgbClr val="233E32"/>
                </a:solidFill>
                <a:latin typeface="Georgia"/>
              </a:rPr>
              <a:t>By:</a:t>
            </a:r>
          </a:p>
          <a:p>
            <a:pPr algn="l"/>
            <a:endParaRPr lang="en-US" dirty="0">
              <a:solidFill>
                <a:srgbClr val="233E32"/>
              </a:solidFill>
              <a:latin typeface="Georgia"/>
            </a:endParaRPr>
          </a:p>
          <a:p>
            <a:pPr algn="l"/>
            <a:r>
              <a:rPr lang="en-US" sz="1800" b="0" i="0" dirty="0">
                <a:solidFill>
                  <a:srgbClr val="233E32"/>
                </a:solidFill>
                <a:latin typeface="Georgia"/>
              </a:rPr>
              <a:t>Niyati Trivedi 25DCS136</a:t>
            </a:r>
          </a:p>
          <a:p>
            <a:pPr algn="l"/>
            <a:r>
              <a:rPr lang="en-US" dirty="0">
                <a:solidFill>
                  <a:srgbClr val="233E32"/>
                </a:solidFill>
                <a:latin typeface="Georgia"/>
              </a:rPr>
              <a:t>Shreya Raja 25DCS106</a:t>
            </a:r>
          </a:p>
          <a:p>
            <a:pPr algn="l"/>
            <a:r>
              <a:rPr lang="en-US" sz="1800" b="0" i="0" dirty="0">
                <a:solidFill>
                  <a:srgbClr val="233E32"/>
                </a:solidFill>
                <a:latin typeface="Georgia"/>
              </a:rPr>
              <a:t>Hardi Patha</a:t>
            </a:r>
            <a:r>
              <a:rPr lang="en-US" dirty="0">
                <a:solidFill>
                  <a:srgbClr val="233E32"/>
                </a:solidFill>
                <a:latin typeface="Georgia"/>
              </a:rPr>
              <a:t>k 25DCS102</a:t>
            </a:r>
          </a:p>
          <a:p>
            <a:pPr algn="l"/>
            <a:r>
              <a:rPr lang="en-US" sz="1800" b="0" i="0" dirty="0">
                <a:solidFill>
                  <a:srgbClr val="233E32"/>
                </a:solidFill>
                <a:latin typeface="Georgia"/>
              </a:rPr>
              <a:t>Dhruti Rana 25DCS108</a:t>
            </a:r>
          </a:p>
        </p:txBody>
      </p:sp>
    </p:spTree>
    <p:extLst>
      <p:ext uri="{BB962C8B-B14F-4D97-AF65-F5344CB8AC3E}">
        <p14:creationId xmlns:p14="http://schemas.microsoft.com/office/powerpoint/2010/main" val="27328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824</Words>
  <Application>Microsoft Office PowerPoint</Application>
  <PresentationFormat>Widescreen</PresentationFormat>
  <Paragraphs>229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Dhruti Rana</dc:creator>
  <cp:keywords/>
  <dc:description>generated using python-pptx</dc:description>
  <cp:lastModifiedBy>Dhruti Rana</cp:lastModifiedBy>
  <cp:revision>3</cp:revision>
  <dcterms:created xsi:type="dcterms:W3CDTF">2013-01-27T09:14:16Z</dcterms:created>
  <dcterms:modified xsi:type="dcterms:W3CDTF">2026-09-14T18:27:53Z</dcterms:modified>
  <cp:category/>
</cp:coreProperties>
</file>